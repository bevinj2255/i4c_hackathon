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3"/>
    <p:sldId id="258" r:id="rId4"/>
    <p:sldId id="259" r:id="rId5"/>
    <p:sldId id="260" r:id="rId6"/>
    <p:sldId id="261" r:id="rId7"/>
    <p:sldId id="262" r:id="rId8"/>
    <p:sldId id="268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0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2.png"/><Relationship Id="rId10" Type="http://schemas.openxmlformats.org/officeDocument/2006/relationships/image" Target="../media/image6.png"/><Relationship Id="rId11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000">
                <a:solidFill>
                  <a:srgbClr val="FFFFFF"/>
                </a:solidFill>
                <a:latin typeface="Poppins"/>
              </a:rPr>
              <a:t>Web Shooters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S Govind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4th Year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Bevin Punnoose Jacob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4th Year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Renil James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4th Year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4023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Antony Thomas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E0E0E0"/>
                </a:solidFill>
                <a:latin typeface="Poppins"/>
              </a:rPr>
              <a:t>4th Year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Saintgits College of Engineering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+91 80895 83726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govindinferno@gmail.com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300">
                <a:solidFill>
                  <a:srgbClr val="AEFF82"/>
                </a:solidFill>
                <a:latin typeface="Poppins"/>
              </a:rPr>
              <a:t>KLA PS01 — AI-Based Restoration of Degraded Semiconductor Inspection Images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0120" y="3703320"/>
            <a:ext cx="10268712" cy="269748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97864" y="382219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97864" y="4133087"/>
            <a:ext cx="9784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FFFFFF"/>
                </a:solidFill>
                <a:latin typeface="Poppins"/>
              </a:rPr>
              <a:t>• Inspection images decide whether a wafer passes: one pixel of noise can hide a killer defect.</a:t>
            </a:r>
            <a:endParaRPr lang="en-US" sz="1300" dirty="0"/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Three degradations, order undisclosed — speckle noise, additive Gaussian noise, 2× downsampling.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Input 128×128 noisy → output 256×256 clean (also 256→512). Grayscale float32.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Degraded pixels fall outside [0,1] by design; ground truth always inside it.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Scored on three axes: PSNR + SSIM + LPIPS, H100 end-to-end throughput, training/compute hygiene.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Poppins"/>
              </a:rPr>
              <a:t>• Hidden test set contains out-of-distribution content — must generalise, not memorise.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 - 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One small fully-convolutional network denoises and 2× super-resolves in a single pass, built on a degradation model recovered from the data rather than guessed.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0120" y="3703320"/>
            <a:ext cx="10268712" cy="1298448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1288" y="3822191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1288" y="41148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Reverse-engineered KLA's exact degradation recipe from the 3200 provided pairs.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That yields unlimited correctly-degraded training data, with fresh noise every epoch.</a:t>
            </a:r>
          </a:p>
        </p:txBody>
      </p:sp>
      <p:sp>
        <p:nvSpPr>
          <p:cNvPr id="20" name="Shape 14"/>
          <p:cNvSpPr/>
          <p:nvPr/>
        </p:nvSpPr>
        <p:spPr>
          <a:xfrm>
            <a:off x="960120" y="5120640"/>
            <a:ext cx="10268712" cy="1298448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1288" y="5239512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1288" y="55321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1.37M-parameter residual CNN; all work at low resolution, one PixelShuffle at the end — 4× cheaper.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Fully convolutional, so the same weights restore 128→256 and 256→512.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Measured forward model → unlimited synthetic pairs → compact CNN → loss blended for pixel and perceptual quality.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0120" y="3703320"/>
            <a:ext cx="10268712" cy="269748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97864" y="3822191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97864" y="4133087"/>
            <a:ext cx="9784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000">
                <a:solidFill>
                  <a:srgbClr val="FFFFFF"/>
                </a:solidFill>
                <a:latin typeface="Poppins"/>
              </a:rPr>
              <a:t>• DEGRADATION RECOVERED (measured): 2×2 area-average downsample; noise applied after it; speckle multiplicative, var ∝ pixel² (r = 0.993); σ_speckle 0.10–0.25, σ_gauss 0.00–0.15.</a:t>
            </a:r>
            <a:endParaRPr lang="en-US" sz="1300" dirty="0"/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verify_degradation.py re-derives every constant from the data and ABORTS on mismatch.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TRAINING: 50/50 real and synthesised pairs; noise ranges widened beyond measured; 8-fold dihedral augmentation.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MODEL: 16 residual blocks × 64 ch → PixelShuffle ×2. No global skip from the noisy input. Output clamped to [0,1].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LOSS: Charbonnier blended with an LPIPS perceptual term by weight interpolation of two checkpoints.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STACK: PyTorch 2.9.1+cu128, trained on NVIDIA GeForce GTX 1650 (4 GiB) — base 110 ep/5.4 h + perceptual 25 ep/1.4 h.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Poppins"/>
              </a:rPr>
              <a:t>• FEASIBILITY: 16 MB checkpoint, 31.5 ms/image end-to-end; runs unchanged on CPU or any NVIDIA GPU.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We measured what others assume — which produced both the data advantage and the model.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0120" y="3703320"/>
            <a:ext cx="5020056" cy="2697480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97864" y="3822191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97864" y="4133087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Degradation recovered, not guessed — giving unlimited perfectly-matched training data.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Noise SPECTRUM matched, not just variance: caught a 16% high-frequency error every variance test passed.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Perceptual/pixel weight interpolation — 93% of the LPIPS gain for 2.9% of the PSNR gain, zero extra training.</a:t>
            </a:r>
          </a:p>
        </p:txBody>
      </p:sp>
      <p:sp>
        <p:nvSpPr>
          <p:cNvPr id="20" name="Shape 14"/>
          <p:cNvSpPr/>
          <p:nvPr/>
        </p:nvSpPr>
        <p:spPr>
          <a:xfrm>
            <a:off x="6208776" y="3703320"/>
            <a:ext cx="5020056" cy="2697480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6520" y="3822191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6520" y="4133087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FFFFFF"/>
                </a:solidFill>
                <a:latin typeface="Poppins"/>
              </a:rPr>
              <a:t>• Beats bicubic on 200/200 validation images — every one, not on average.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Deliberately small (1.37M params): KLA scores throughput, and oversized models lose it.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FFFFF"/>
                </a:solidFill>
                <a:latin typeface="Poppins"/>
              </a:rPr>
              <a:t>• Ideas tested and REJECTED on evidence: 8× TTA (worsened LPIPS), synthetic-pattern training (−0.22 dB).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AEFF82"/>
                </a:solidFill>
                <a:latin typeface="Poppins"/>
              </a:rPr>
              <a:t>Recovers detail engineers currently accept as lost — and generalises to structure it never trained on.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0120" y="3675887"/>
            <a:ext cx="5020056" cy="169164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3813048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3040" y="3776472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197864" y="4087368"/>
            <a:ext cx="45537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D1D5DB"/>
                </a:solidFill>
                <a:latin typeface="Poppins"/>
              </a:rPr>
              <a:t>• PSNR 23.23 → 28.38 dB</a:t>
            </a:r>
            <a:endParaRPr lang="en-US" sz="10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SSIM 0.5395 → 0.7477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LPIPS 0.4369 → 0.2158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Untrained control 11.70 dB — the metric can fail.</a:t>
            </a:r>
          </a:p>
        </p:txBody>
      </p:sp>
      <p:sp>
        <p:nvSpPr>
          <p:cNvPr id="21" name="Shape 14"/>
          <p:cNvSpPr/>
          <p:nvPr/>
        </p:nvSpPr>
        <p:spPr>
          <a:xfrm>
            <a:off x="6208776" y="3675887"/>
            <a:ext cx="5020056" cy="169164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3813048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9128" y="3776472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6520" y="4087368"/>
            <a:ext cx="45537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100">
                <a:solidFill>
                  <a:srgbClr val="D1D5DB"/>
                </a:solidFill>
                <a:latin typeface="Poppins"/>
              </a:rPr>
              <a:t>• +5.14 dB PSNR, +0.2083 SSIM, 0.2211 better LPIPS</a:t>
            </a:r>
            <a:endParaRPr lang="en-US" sz="1000" dirty="0"/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31.5 ms/image end-to-end (read → preprocess → transfer → model → save)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D1D5DB"/>
                </a:solidFill>
                <a:latin typeface="Poppins"/>
              </a:rPr>
              <a:t>• Unseen semiconductor-like structure: +2.56 dB mean, ahead on 14/15 patterns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  <p:pic>
        <p:nvPicPr>
          <p:cNvPr id="29" name="Picture 28" descr="slide_resul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44168" y="5486400"/>
            <a:ext cx="9509760" cy="10662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300">
                <a:solidFill>
                  <a:srgbClr val="D1D5DB"/>
                </a:solidFill>
                <a:latin typeface="Poppins"/>
              </a:rPr>
              <a:t>https://github.com/bevinj2255/i4c_hackathon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sz="1200">
                <a:solidFill>
                  <a:srgbClr val="D1D5DB"/>
                </a:solidFill>
                <a:latin typeface="Poppins"/>
              </a:rPr>
              <a:t>Not submitted — full results, figures and code are in the repository.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51560" y="58978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A8E63A"/>
                </a:solidFill>
              </a:rPr>
              <a:t>REFERENCES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D5DCEA"/>
                </a:solidFill>
              </a:rPr>
              <a:t>Lim et al., EDSR, CVPRW 2017 · Shi et al., PixelShuffle, CVPR 2016 · Zhang et al., LPIPS, CVPR 2018 · Zhai et al., IEEE Access 11:21049, 2023 · Terven et al., Artif Intell Rev 58:195, 2025 · Monga et al., IEEE SPM 38(2), 2021.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D5DCEA"/>
                </a:solidFill>
              </a:rPr>
              <a:t>No external datasets or pretrained weights were used for the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735</Words>
  <Application>Microsoft Office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Poppins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Inter Institutional Inclusive  Innovations Center</cp:lastModifiedBy>
  <cp:revision>2</cp:revision>
  <dcterms:created xsi:type="dcterms:W3CDTF">2026-01-15T05:38:47Z</dcterms:created>
  <dcterms:modified xsi:type="dcterms:W3CDTF">2026-07-24T04:52:04Z</dcterms:modified>
</cp:coreProperties>
</file>