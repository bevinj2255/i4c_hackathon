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59" r:id="rId5"/>
    <p:sldId id="260" r:id="rId6"/>
    <p:sldId id="261" r:id="rId7"/>
    <p:sldId id="262" r:id="rId8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2.png"/><Relationship Id="rId10" Type="http://schemas.openxmlformats.org/officeDocument/2006/relationships/image" Target="../media/image6.png"/><Relationship Id="rId11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000">
                <a:solidFill>
                  <a:srgbClr val="FFFFFF"/>
                </a:solidFill>
                <a:latin typeface="Poppins"/>
              </a:rPr>
              <a:t>Web Shooters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4023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E0E0E0"/>
                </a:solidFill>
                <a:latin typeface="Poppins"/>
              </a:rPr>
              <a:t>S Govind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E0E0E0"/>
                </a:solidFill>
                <a:latin typeface="Poppins"/>
              </a:rPr>
              <a:t>4th Year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4023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E0E0E0"/>
                </a:solidFill>
                <a:latin typeface="Poppins"/>
              </a:rPr>
              <a:t>Bevin Punnoose Jacob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E0E0E0"/>
                </a:solidFill>
                <a:latin typeface="Poppins"/>
              </a:rPr>
              <a:t>4th Year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4023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E0E0E0"/>
                </a:solidFill>
                <a:latin typeface="Poppins"/>
              </a:rPr>
              <a:t>Renil James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E0E0E0"/>
                </a:solidFill>
                <a:latin typeface="Poppins"/>
              </a:rPr>
              <a:t>4th Year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4023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E0E0E0"/>
                </a:solidFill>
                <a:latin typeface="Poppins"/>
              </a:rPr>
              <a:t>Antony Thomas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E0E0E0"/>
                </a:solidFill>
                <a:latin typeface="Poppins"/>
              </a:rPr>
              <a:t>4th Year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  <a:latin typeface="Poppins"/>
              </a:rPr>
              <a:t>Saintgits College of Engineering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  <a:latin typeface="Poppins"/>
              </a:rPr>
              <a:t>+91 80895 83726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  <a:latin typeface="Poppins"/>
              </a:rPr>
              <a:t>govindinferno@gmail.com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300">
                <a:solidFill>
                  <a:srgbClr val="AEFF82"/>
                </a:solidFill>
                <a:latin typeface="Poppins"/>
              </a:rPr>
              <a:t>KLA PS01 — AI-Based Restoration of Degraded Semiconductor Inspection Images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0120" y="3703320"/>
            <a:ext cx="10268712" cy="269748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97864" y="382219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97864" y="4133087"/>
            <a:ext cx="9784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200">
                <a:solidFill>
                  <a:srgbClr val="FFFFFF"/>
                </a:solidFill>
                <a:latin typeface="Poppins"/>
              </a:rPr>
              <a:t>• Inspection images decide whether a wafer passes: one pixel of noise can hide a killer defect.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Poppins"/>
              </a:rPr>
              <a:t>• Three degradations, order undisclosed — speckle noise, additive Gaussian noise, 2× downsampling.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Poppins"/>
              </a:rPr>
              <a:t>• Input 128×128 noisy → output 256×256 clean (also 256→512). Grayscale float32.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Poppins"/>
              </a:rPr>
              <a:t>• Degraded pixels fall outside [0,1] by design; ground truth always inside it.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Poppins"/>
              </a:rPr>
              <a:t>• Scored on three axes: PSNR + SSIM + LPIPS, H100 end-to-end throughput, training/compute hygiene.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Poppins"/>
              </a:rPr>
              <a:t>• Hidden test set contains out-of-distribution content — must generalise, not memorise.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200">
                <a:solidFill>
                  <a:srgbClr val="AEFF82"/>
                </a:solidFill>
                <a:latin typeface="Poppins"/>
              </a:rPr>
              <a:t>One compact fully-convolutional network denoises and 2× super-resolves in a single pass, built on a degradation model recovered from the data rather than guessed.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0120" y="3703320"/>
            <a:ext cx="10268712" cy="129844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1288" y="3822191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1288" y="4114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FFFFFF"/>
                </a:solidFill>
                <a:latin typeface="Poppins"/>
              </a:rPr>
              <a:t>• Reverse-engineered KLA's exact degradation recipe from the 3200 provided pairs.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Poppins"/>
              </a:rPr>
              <a:t>• That yields unlimited correctly-degraded training data, with fresh noise every epoch.</a:t>
            </a:r>
          </a:p>
        </p:txBody>
      </p:sp>
      <p:sp>
        <p:nvSpPr>
          <p:cNvPr id="20" name="Shape 14"/>
          <p:cNvSpPr/>
          <p:nvPr/>
        </p:nvSpPr>
        <p:spPr>
          <a:xfrm>
            <a:off x="960120" y="5120640"/>
            <a:ext cx="10268712" cy="129844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1288" y="5239512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1288" y="55321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FFFFFF"/>
                </a:solidFill>
                <a:latin typeface="Poppins"/>
              </a:rPr>
              <a:t>• 4.4M-parameter residual CNN; all work at low resolution, one PixelShuffle at the end — 4× cheaper.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Poppins"/>
              </a:rPr>
              <a:t>• Fully convolutional, so the same weights restore 128→256 and 256→512.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200">
                <a:solidFill>
                  <a:srgbClr val="AEFF82"/>
                </a:solidFill>
                <a:latin typeface="Poppins"/>
              </a:rPr>
              <a:t>Measured forward model → unlimited synthetic pairs → compact CNN → loss blended for pixel and perceptual quality.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0120" y="3703320"/>
            <a:ext cx="10268712" cy="269748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97864" y="382219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97864" y="4133087"/>
            <a:ext cx="9784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000">
                <a:solidFill>
                  <a:srgbClr val="FFFFFF"/>
                </a:solidFill>
                <a:latin typeface="Poppins"/>
              </a:rPr>
              <a:t>• DEGRADATION RECOVERED (measured): 2×2 area-average downsample; noise applied after it; speckle multiplicative, var ∝ pixel² (r = 0.993); σ_speckle 0.10–0.25, σ_gauss 0.00–0.15.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Poppins"/>
              </a:rPr>
              <a:t>• verify_degradation.py re-derives every constant from the data and ABORTS on mismatch.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Poppins"/>
              </a:rPr>
              <a:t>• TRAINING: 50/50 real and synthesised pairs; noise ranges widened beyond measured; 8-fold dihedral augmentation.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Poppins"/>
              </a:rPr>
              <a:t>• MODEL: 24 residual blocks × 96 ch → PixelShuffle ×2. No global skip from the noisy input. Output clamped to [0,1].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Poppins"/>
              </a:rPr>
              <a:t>• LOSS: Charbonnier (smooth L1) for pixel accuracy, then a fine-tune adding a frozen-AlexNet LPIPS term for perceptual quality.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Poppins"/>
              </a:rPr>
              <a:t>• STACK: PyTorch 2.9.1+cu128 — large_ft_perceptual 25 ep/3.5 h + large 147 ep/6.1 h + large_perc_long 40 ep/6.7 h on RTX 4050 (base) and GTX 1650 (fine-tune).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Poppins"/>
              </a:rPr>
              <a:t>• FEASIBILITY: 50 MB checkpoint, 101 ms/image end-to-end on a GTX 1650; runs unchanged on CPU or any NVIDIA GPU.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200">
                <a:solidFill>
                  <a:srgbClr val="AEFF82"/>
                </a:solidFill>
                <a:latin typeface="Poppins"/>
              </a:rPr>
              <a:t>We measured what others assume — which produced both the data advantage and the model.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0120" y="3703320"/>
            <a:ext cx="5020056" cy="269748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97864" y="3822191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97864" y="4133087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FFFFFF"/>
                </a:solidFill>
                <a:latin typeface="Poppins"/>
              </a:rPr>
              <a:t>• Degradation recovered, not guessed — giving unlimited perfectly-matched training data.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Poppins"/>
              </a:rPr>
              <a:t>• Noise SPECTRUM matched, not just variance: caught a 16% high-frequency error every variance test passed.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Poppins"/>
              </a:rPr>
              <a:t>• Perceptual fine-tune of a pixel-trained network: LPIPS 0.3099 → 0.1811, a 42% cut, for 0.34 dB of PSNR. The interpolation curve between the two was measured and showed no blend was needed.</a:t>
            </a:r>
          </a:p>
        </p:txBody>
      </p:sp>
      <p:sp>
        <p:nvSpPr>
          <p:cNvPr id="20" name="Shape 14"/>
          <p:cNvSpPr/>
          <p:nvPr/>
        </p:nvSpPr>
        <p:spPr>
          <a:xfrm>
            <a:off x="6208776" y="3703320"/>
            <a:ext cx="5020056" cy="269748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6520" y="3822191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133087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FFFFFF"/>
                </a:solidFill>
                <a:latin typeface="Poppins"/>
              </a:rPr>
              <a:t>• Beats bicubic on 200/200 validation images — every one, not on average.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Poppins"/>
              </a:rPr>
              <a:t>• Compact by design (4.4M params, 50 MB): all computation at low resolution, so throughput stays high.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Poppins"/>
              </a:rPr>
              <a:t>• Three ideas tested and REJECTED on evidence: 8× TTA (worse LPIPS, 3 checkpoints), synthetic-pattern training (−0.22 dB), longer perceptual schedule (won the val split, lost 0.57 dB out-of-distribution).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200">
                <a:solidFill>
                  <a:srgbClr val="AEFF82"/>
                </a:solidFill>
                <a:latin typeface="Poppins"/>
              </a:rPr>
              <a:t>Recovers detail engineers currently accept as lost — and generalises to structure it never trained on.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0120" y="3675887"/>
            <a:ext cx="5020056" cy="169164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3813048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3776472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197864" y="4087368"/>
            <a:ext cx="4553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D1D5DB"/>
                </a:solidFill>
                <a:latin typeface="Poppins"/>
              </a:rPr>
              <a:t>• PSNR 23.23 → 28.68 dB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Poppins"/>
              </a:rPr>
              <a:t>• SSIM 0.5395 → 0.7543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Poppins"/>
              </a:rPr>
              <a:t>• LPIPS 0.4369 → 0.1811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Poppins"/>
              </a:rPr>
              <a:t>• Untrained control 10.35 dB — the metric can fail.</a:t>
            </a:r>
          </a:p>
        </p:txBody>
      </p:sp>
      <p:sp>
        <p:nvSpPr>
          <p:cNvPr id="21" name="Shape 14"/>
          <p:cNvSpPr/>
          <p:nvPr/>
        </p:nvSpPr>
        <p:spPr>
          <a:xfrm>
            <a:off x="6208776" y="3675887"/>
            <a:ext cx="5020056" cy="169164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3813048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9128" y="3776472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6520" y="4087368"/>
            <a:ext cx="4553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100">
                <a:solidFill>
                  <a:srgbClr val="D1D5DB"/>
                </a:solidFill>
                <a:latin typeface="Poppins"/>
              </a:rPr>
              <a:t>• +5.44 dB PSNR, +0.2148 SSIM, 0.2558 better LPIPS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Poppins"/>
              </a:rPr>
              <a:t>• 101 ms/image end-to-end (read → preprocess → transfer → model → save)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Poppins"/>
              </a:rPr>
              <a:t>• Unseen semiconductor-like structure: +2.32 dB mean, ahead on 13/15 patterns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  <p:pic>
        <p:nvPicPr>
          <p:cNvPr id="29" name="Picture 28" descr="slide_resu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4168" y="5486400"/>
            <a:ext cx="9509760" cy="10662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300">
                <a:solidFill>
                  <a:srgbClr val="D1D5DB"/>
                </a:solidFill>
                <a:latin typeface="Poppins"/>
              </a:rPr>
              <a:t>https://github.com/bevinj2255/i4c_hackathon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sz="1200">
                <a:solidFill>
                  <a:srgbClr val="D1D5DB"/>
                </a:solidFill>
                <a:latin typeface="Poppins"/>
              </a:rPr>
              <a:t>Not submitted — full results, figures and code are in the repository.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1560" y="5897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8E63A"/>
                </a:solidFill>
              </a:rPr>
              <a:t>REFERENCES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5DCEA"/>
                </a:solidFill>
              </a:rPr>
              <a:t>Lim et al., EDSR, CVPRW 2017 · Shi et al., PixelShuffle, CVPR 2016 · Zhang et al., LPIPS, CVPR 2018 · Zhai et al., IEEE Access 11:21049, 2023 · Terven et al., Artif Intell Rev 58:195, 2025 · Monga et al., IEEE SPM 38(2), 2021.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D5DCEA"/>
                </a:solidFill>
              </a:rPr>
              <a:t>No external datasets or pretrained weights were used for the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735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Inter Institutional Inclusive  Innovations Center</cp:lastModifiedBy>
  <cp:revision>2</cp:revision>
  <dcterms:created xsi:type="dcterms:W3CDTF">2026-01-15T05:38:47Z</dcterms:created>
  <dcterms:modified xsi:type="dcterms:W3CDTF">2026-07-24T04:52:04Z</dcterms:modified>
</cp:coreProperties>
</file>